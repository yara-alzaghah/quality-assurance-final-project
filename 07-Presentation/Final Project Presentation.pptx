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16.svg" ContentType="image/svg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67" r:id="rId15"/>
  </p:sldIdLst>
  <p:sldSz cx="18288000" cy="10287000"/>
  <p:notesSz cx="6858000" cy="9144000"/>
  <p:embeddedFontLst>
    <p:embeddedFont>
      <p:font typeface="Poppins Bold" panose="00000800000000000000"/>
      <p:bold r:id="rId19"/>
    </p:embeddedFont>
    <p:embeddedFont>
      <p:font typeface="Canva Sans" panose="020B0503030501040103"/>
      <p:regular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3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89638" y="3158715"/>
            <a:ext cx="7375772" cy="7714640"/>
          </a:xfrm>
          <a:custGeom>
            <a:avLst/>
            <a:gdLst/>
            <a:ahLst/>
            <a:cxnLst/>
            <a:rect l="l" t="t" r="r" b="b"/>
            <a:pathLst>
              <a:path w="7375772" h="7714640">
                <a:moveTo>
                  <a:pt x="0" y="0"/>
                </a:moveTo>
                <a:lnTo>
                  <a:pt x="7375772" y="0"/>
                </a:lnTo>
                <a:lnTo>
                  <a:pt x="7375772" y="7714639"/>
                </a:lnTo>
                <a:lnTo>
                  <a:pt x="0" y="771463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1450" y="147989"/>
            <a:ext cx="1232862" cy="1232862"/>
          </a:xfrm>
          <a:custGeom>
            <a:avLst/>
            <a:gdLst/>
            <a:ahLst/>
            <a:cxnLst/>
            <a:rect l="l" t="t" r="r" b="b"/>
            <a:pathLst>
              <a:path w="1232862" h="1232862">
                <a:moveTo>
                  <a:pt x="0" y="0"/>
                </a:moveTo>
                <a:lnTo>
                  <a:pt x="1232862" y="0"/>
                </a:lnTo>
                <a:lnTo>
                  <a:pt x="1232862" y="1232862"/>
                </a:lnTo>
                <a:lnTo>
                  <a:pt x="0" y="1232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2700000">
            <a:off x="512285" y="674306"/>
            <a:ext cx="736570" cy="365606"/>
            <a:chOff x="0" y="0"/>
            <a:chExt cx="1083733" cy="5379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83733" cy="537926"/>
            </a:xfrm>
            <a:custGeom>
              <a:avLst/>
              <a:gdLst/>
              <a:ahLst/>
              <a:cxnLst/>
              <a:rect l="l" t="t" r="r" b="b"/>
              <a:pathLst>
                <a:path w="1083733" h="537926">
                  <a:moveTo>
                    <a:pt x="541867" y="0"/>
                  </a:moveTo>
                  <a:lnTo>
                    <a:pt x="1083733" y="537926"/>
                  </a:lnTo>
                  <a:lnTo>
                    <a:pt x="0" y="537926"/>
                  </a:lnTo>
                  <a:lnTo>
                    <a:pt x="541867" y="0"/>
                  </a:lnTo>
                  <a:close/>
                </a:path>
              </a:pathLst>
            </a:custGeom>
            <a:solidFill>
              <a:srgbClr val="458FA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69333" y="211651"/>
              <a:ext cx="745067" cy="287851"/>
            </a:xfrm>
            <a:prstGeom prst="rect">
              <a:avLst/>
            </a:prstGeom>
          </p:spPr>
          <p:txBody>
            <a:bodyPr lIns="18069" tIns="18069" rIns="18069" bIns="1806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7" name="AutoShape 7"/>
          <p:cNvSpPr/>
          <p:nvPr/>
        </p:nvSpPr>
        <p:spPr>
          <a:xfrm>
            <a:off x="1955793" y="2286984"/>
            <a:ext cx="797229" cy="0"/>
          </a:xfrm>
          <a:prstGeom prst="line">
            <a:avLst/>
          </a:prstGeom>
          <a:ln w="190500" cap="flat">
            <a:solidFill>
              <a:srgbClr val="16718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3311101" y="2286984"/>
            <a:ext cx="797229" cy="0"/>
          </a:xfrm>
          <a:prstGeom prst="line">
            <a:avLst/>
          </a:prstGeom>
          <a:ln w="190500" cap="flat">
            <a:solidFill>
              <a:srgbClr val="57A3B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5943528" y="5638887"/>
            <a:ext cx="6492240" cy="0"/>
          </a:xfrm>
          <a:prstGeom prst="line">
            <a:avLst/>
          </a:prstGeom>
          <a:ln w="38100" cap="flat">
            <a:solidFill>
              <a:srgbClr val="57A3B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71450" y="2857500"/>
            <a:ext cx="18143855" cy="1066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altLang="en-GB" sz="6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End-to-End Quality Assurance for a Web-Based Application</a:t>
            </a:r>
            <a:endParaRPr lang="en-US" altLang="en-GB" sz="6000" b="1" spc="-192">
              <a:solidFill>
                <a:srgbClr val="2B2B2B"/>
              </a:solidFill>
              <a:latin typeface="+mj-lt"/>
              <a:ea typeface="Poppins Bold" panose="00000800000000000000"/>
              <a:cs typeface="+mj-lt"/>
              <a:sym typeface="Poppins Bold" panose="000008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960928" y="7048712"/>
            <a:ext cx="10232794" cy="969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GB" altLang="en-US" sz="3500" spc="-64">
                <a:solidFill>
                  <a:schemeClr val="tx1"/>
                </a:solidFill>
                <a:ea typeface="Canva Sans" panose="020B0503030501040103"/>
                <a:cs typeface="+mn-lt"/>
                <a:sym typeface="Canva Sans" panose="020B0503030501040103"/>
              </a:rPr>
              <a:t>Yara Alzaghah</a:t>
            </a:r>
            <a:endParaRPr lang="en-GB" altLang="en-US" sz="3500" spc="-64">
              <a:solidFill>
                <a:schemeClr val="tx1"/>
              </a:solidFill>
              <a:ea typeface="Canva Sans" panose="020B0503030501040103"/>
              <a:cs typeface="+mn-lt"/>
              <a:sym typeface="Canva Sans" panose="020B0503030501040103"/>
            </a:endParaRPr>
          </a:p>
          <a:p>
            <a:pPr algn="ctr">
              <a:lnSpc>
                <a:spcPts val="3780"/>
              </a:lnSpc>
            </a:pPr>
            <a:r>
              <a:rPr lang="en-US" altLang="en-GB" sz="3500" spc="-64">
                <a:solidFill>
                  <a:schemeClr val="tx1"/>
                </a:solidFill>
                <a:ea typeface="Canva Sans" panose="020B0503030501040103"/>
                <a:cs typeface="+mn-lt"/>
                <a:sym typeface="Canva Sans" panose="020B0503030501040103"/>
              </a:rPr>
              <a:t>ICT Upskilling Program – QA Track</a:t>
            </a:r>
            <a:endParaRPr lang="en-US" altLang="en-GB" sz="3500" spc="-64">
              <a:solidFill>
                <a:schemeClr val="tx1"/>
              </a:solidFill>
              <a:ea typeface="Canva Sans" panose="020B0503030501040103"/>
              <a:cs typeface="+mn-lt"/>
              <a:sym typeface="Canva Sans" panose="020B0503030501040103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1043786" y="4000461"/>
            <a:ext cx="16398404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altLang="en-GB" sz="4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Manual Testing | API Testing | Performance | Automation | CI</a:t>
            </a:r>
            <a:endParaRPr lang="en-US" altLang="en-GB" sz="4000" b="1" spc="-192">
              <a:solidFill>
                <a:srgbClr val="2B2B2B"/>
              </a:solidFill>
              <a:latin typeface="+mj-lt"/>
              <a:ea typeface="Poppins Bold" panose="00000800000000000000"/>
              <a:cs typeface="+mj-lt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89638" y="3158715"/>
            <a:ext cx="7375772" cy="7714640"/>
          </a:xfrm>
          <a:custGeom>
            <a:avLst/>
            <a:gdLst/>
            <a:ahLst/>
            <a:cxnLst/>
            <a:rect l="l" t="t" r="r" b="b"/>
            <a:pathLst>
              <a:path w="7375772" h="7714640">
                <a:moveTo>
                  <a:pt x="0" y="0"/>
                </a:moveTo>
                <a:lnTo>
                  <a:pt x="7375772" y="0"/>
                </a:lnTo>
                <a:lnTo>
                  <a:pt x="7375772" y="7714639"/>
                </a:lnTo>
                <a:lnTo>
                  <a:pt x="0" y="771463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1450" y="147989"/>
            <a:ext cx="1232862" cy="1232862"/>
          </a:xfrm>
          <a:custGeom>
            <a:avLst/>
            <a:gdLst/>
            <a:ahLst/>
            <a:cxnLst/>
            <a:rect l="l" t="t" r="r" b="b"/>
            <a:pathLst>
              <a:path w="1232862" h="1232862">
                <a:moveTo>
                  <a:pt x="0" y="0"/>
                </a:moveTo>
                <a:lnTo>
                  <a:pt x="1232862" y="0"/>
                </a:lnTo>
                <a:lnTo>
                  <a:pt x="1232862" y="1232862"/>
                </a:lnTo>
                <a:lnTo>
                  <a:pt x="0" y="1232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2700000">
            <a:off x="512285" y="674306"/>
            <a:ext cx="736570" cy="365606"/>
            <a:chOff x="0" y="0"/>
            <a:chExt cx="1083733" cy="5379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83733" cy="537926"/>
            </a:xfrm>
            <a:custGeom>
              <a:avLst/>
              <a:gdLst/>
              <a:ahLst/>
              <a:cxnLst/>
              <a:rect l="l" t="t" r="r" b="b"/>
              <a:pathLst>
                <a:path w="1083733" h="537926">
                  <a:moveTo>
                    <a:pt x="541867" y="0"/>
                  </a:moveTo>
                  <a:lnTo>
                    <a:pt x="1083733" y="537926"/>
                  </a:lnTo>
                  <a:lnTo>
                    <a:pt x="0" y="537926"/>
                  </a:lnTo>
                  <a:lnTo>
                    <a:pt x="541867" y="0"/>
                  </a:lnTo>
                  <a:close/>
                </a:path>
              </a:pathLst>
            </a:custGeom>
            <a:solidFill>
              <a:srgbClr val="458FA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69333" y="211651"/>
              <a:ext cx="745067" cy="287851"/>
            </a:xfrm>
            <a:prstGeom prst="rect">
              <a:avLst/>
            </a:prstGeom>
          </p:spPr>
          <p:txBody>
            <a:bodyPr lIns="18069" tIns="18069" rIns="18069" bIns="1806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7" name="AutoShape 7"/>
          <p:cNvSpPr/>
          <p:nvPr/>
        </p:nvSpPr>
        <p:spPr>
          <a:xfrm>
            <a:off x="1955793" y="1476101"/>
            <a:ext cx="797229" cy="0"/>
          </a:xfrm>
          <a:prstGeom prst="line">
            <a:avLst/>
          </a:prstGeom>
          <a:ln w="190500" cap="flat">
            <a:solidFill>
              <a:srgbClr val="16718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3305472" y="1476101"/>
            <a:ext cx="797229" cy="0"/>
          </a:xfrm>
          <a:prstGeom prst="line">
            <a:avLst/>
          </a:prstGeom>
          <a:ln w="190500" cap="flat">
            <a:solidFill>
              <a:srgbClr val="57A3B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5516349" y="3557920"/>
            <a:ext cx="7255303" cy="0"/>
          </a:xfrm>
          <a:prstGeom prst="line">
            <a:avLst/>
          </a:prstGeom>
          <a:ln w="38100" cap="flat">
            <a:solidFill>
              <a:srgbClr val="57A3B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787881" y="1986504"/>
            <a:ext cx="16398404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Presentation Agenda</a:t>
            </a:r>
            <a:endParaRPr lang="en-US" sz="8000" b="1" spc="-192">
              <a:solidFill>
                <a:srgbClr val="2B2B2B"/>
              </a:solidFill>
              <a:latin typeface="+mj-lt"/>
              <a:ea typeface="Poppins Bold" panose="00000800000000000000"/>
              <a:cs typeface="+mj-lt"/>
              <a:sym typeface="Poppins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955793" y="3924092"/>
            <a:ext cx="11507376" cy="6283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0" lvl="1" indent="-377825" algn="l">
              <a:lnSpc>
                <a:spcPts val="4900"/>
              </a:lnSpc>
              <a:buAutoNum type="arabicPeriod"/>
            </a:pPr>
            <a:r>
              <a:rPr lang="en-GB" altLang="en-US" sz="3500" spc="-84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Problem and Use Case</a:t>
            </a:r>
            <a:endParaRPr lang="en-US" sz="3500" spc="-84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  <a:p>
            <a:pPr marL="755650" lvl="1" indent="-377825" algn="l">
              <a:lnSpc>
                <a:spcPts val="4900"/>
              </a:lnSpc>
              <a:buAutoNum type="arabicPeriod"/>
            </a:pPr>
            <a:r>
              <a:rPr lang="en-GB" altLang="en-US" sz="3500" spc="-84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End-to-End QA Workflow</a:t>
            </a:r>
            <a:endParaRPr lang="en-US" sz="3500" spc="-84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  <a:p>
            <a:pPr marL="755650" lvl="1" indent="-377825" algn="l">
              <a:lnSpc>
                <a:spcPts val="4900"/>
              </a:lnSpc>
              <a:buAutoNum type="arabicPeriod"/>
            </a:pPr>
            <a:r>
              <a:rPr lang="en-GB" altLang="en-US" sz="3500" spc="-84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Manual Testing Overview</a:t>
            </a:r>
            <a:endParaRPr lang="en-US" sz="3500" spc="-84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  <a:p>
            <a:pPr marL="755650" lvl="1" indent="-377825" algn="l">
              <a:lnSpc>
                <a:spcPts val="4900"/>
              </a:lnSpc>
              <a:buAutoNum type="arabicPeriod"/>
            </a:pPr>
            <a:r>
              <a:rPr lang="en-GB" altLang="en-US" sz="3500" spc="-84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Manual Test Cases and Execution Summary</a:t>
            </a:r>
            <a:endParaRPr lang="en-US" sz="3500" spc="-84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  <a:p>
            <a:pPr marL="755650" lvl="1" indent="-377825" algn="l">
              <a:lnSpc>
                <a:spcPts val="4900"/>
              </a:lnSpc>
              <a:buAutoNum type="arabicPeriod"/>
            </a:pPr>
            <a:r>
              <a:rPr lang="en-GB" altLang="en-US" sz="3500" spc="-84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Defects Overview</a:t>
            </a:r>
            <a:endParaRPr lang="en-US" sz="3500" spc="-84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  <a:p>
            <a:pPr marL="755650" lvl="1" indent="-377825" algn="l">
              <a:lnSpc>
                <a:spcPts val="4900"/>
              </a:lnSpc>
              <a:buAutoNum type="arabicPeriod"/>
            </a:pPr>
            <a:r>
              <a:rPr lang="en-GB" altLang="en-US" sz="3500" spc="-84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API Testing using Postman Collection and Assertions</a:t>
            </a:r>
            <a:endParaRPr lang="en-GB" altLang="en-US" sz="3500" spc="-84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  <a:p>
            <a:pPr marL="755650" lvl="1" indent="-377825" algn="l">
              <a:lnSpc>
                <a:spcPts val="4900"/>
              </a:lnSpc>
              <a:buAutoNum type="arabicPeriod"/>
            </a:pPr>
            <a:r>
              <a:rPr lang="en-GB" altLang="en-US" sz="3500" spc="-84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API Automation using Newman</a:t>
            </a:r>
            <a:endParaRPr lang="en-GB" altLang="en-US" sz="3500" spc="-84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  <a:p>
            <a:pPr marL="755650" lvl="1" indent="-377825" algn="l">
              <a:lnSpc>
                <a:spcPts val="4900"/>
              </a:lnSpc>
              <a:buAutoNum type="arabicPeriod"/>
            </a:pPr>
            <a:r>
              <a:rPr lang="en-GB" altLang="en-US" sz="3500" spc="-84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API Performance Testing using k6</a:t>
            </a:r>
            <a:endParaRPr lang="en-GB" altLang="en-US" sz="3500" spc="-84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  <a:p>
            <a:pPr marL="755650" lvl="1" indent="-377825" algn="l">
              <a:lnSpc>
                <a:spcPts val="4900"/>
              </a:lnSpc>
              <a:buAutoNum type="arabicPeriod"/>
            </a:pPr>
            <a:r>
              <a:rPr lang="en-US" altLang="en-GB" sz="3500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UI Automation </a:t>
            </a:r>
            <a:r>
              <a:rPr lang="en-GB" altLang="en-US" sz="3500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using</a:t>
            </a:r>
            <a:r>
              <a:rPr lang="en-US" altLang="en-GB" sz="3500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 Selenium </a:t>
            </a:r>
            <a:r>
              <a:rPr lang="en-GB" altLang="en-US" sz="3500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and</a:t>
            </a:r>
            <a:r>
              <a:rPr lang="en-US" altLang="en-GB" sz="3500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 TestNG</a:t>
            </a:r>
            <a:endParaRPr lang="en-US" altLang="en-GB" sz="3500" spc="-192">
              <a:solidFill>
                <a:srgbClr val="2B2B2B"/>
              </a:solidFill>
              <a:latin typeface="+mj-lt"/>
              <a:ea typeface="Poppins Bold" panose="00000800000000000000"/>
              <a:cs typeface="+mj-lt"/>
              <a:sym typeface="Poppins Bold" panose="00000800000000000000"/>
            </a:endParaRPr>
          </a:p>
          <a:p>
            <a:pPr marL="755650" lvl="1" indent="-377825" algn="l">
              <a:lnSpc>
                <a:spcPts val="4900"/>
              </a:lnSpc>
              <a:buAutoNum type="arabicPeriod"/>
            </a:pPr>
            <a:r>
              <a:rPr lang="en-GB" altLang="en-US" sz="3500" spc="-84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Github and CI workflow</a:t>
            </a:r>
            <a:endParaRPr lang="en-US" sz="3500" spc="-84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1889638" y="3158715"/>
            <a:ext cx="7375772" cy="7714640"/>
          </a:xfrm>
          <a:custGeom>
            <a:avLst/>
            <a:gdLst/>
            <a:ahLst/>
            <a:cxnLst/>
            <a:rect l="l" t="t" r="r" b="b"/>
            <a:pathLst>
              <a:path w="7375772" h="7714640">
                <a:moveTo>
                  <a:pt x="0" y="0"/>
                </a:moveTo>
                <a:lnTo>
                  <a:pt x="7375772" y="0"/>
                </a:lnTo>
                <a:lnTo>
                  <a:pt x="7375772" y="7714639"/>
                </a:lnTo>
                <a:lnTo>
                  <a:pt x="0" y="771463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1450" y="147989"/>
            <a:ext cx="1232862" cy="1232862"/>
          </a:xfrm>
          <a:custGeom>
            <a:avLst/>
            <a:gdLst/>
            <a:ahLst/>
            <a:cxnLst/>
            <a:rect l="l" t="t" r="r" b="b"/>
            <a:pathLst>
              <a:path w="1232862" h="1232862">
                <a:moveTo>
                  <a:pt x="0" y="0"/>
                </a:moveTo>
                <a:lnTo>
                  <a:pt x="1232862" y="0"/>
                </a:lnTo>
                <a:lnTo>
                  <a:pt x="1232862" y="1232862"/>
                </a:lnTo>
                <a:lnTo>
                  <a:pt x="0" y="1232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2700000">
            <a:off x="512285" y="674306"/>
            <a:ext cx="736570" cy="365606"/>
            <a:chOff x="0" y="0"/>
            <a:chExt cx="1083733" cy="5379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3733" cy="537926"/>
            </a:xfrm>
            <a:custGeom>
              <a:avLst/>
              <a:gdLst/>
              <a:ahLst/>
              <a:cxnLst/>
              <a:rect l="l" t="t" r="r" b="b"/>
              <a:pathLst>
                <a:path w="1083733" h="537926">
                  <a:moveTo>
                    <a:pt x="541867" y="0"/>
                  </a:moveTo>
                  <a:lnTo>
                    <a:pt x="1083733" y="537926"/>
                  </a:lnTo>
                  <a:lnTo>
                    <a:pt x="0" y="537926"/>
                  </a:lnTo>
                  <a:lnTo>
                    <a:pt x="541867" y="0"/>
                  </a:lnTo>
                  <a:close/>
                </a:path>
              </a:pathLst>
            </a:custGeom>
            <a:solidFill>
              <a:srgbClr val="458FA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69333" y="211651"/>
              <a:ext cx="745067" cy="287851"/>
            </a:xfrm>
            <a:prstGeom prst="rect">
              <a:avLst/>
            </a:prstGeom>
          </p:spPr>
          <p:txBody>
            <a:bodyPr lIns="18069" tIns="18069" rIns="18069" bIns="1806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AutoShape 8"/>
          <p:cNvSpPr/>
          <p:nvPr/>
        </p:nvSpPr>
        <p:spPr>
          <a:xfrm>
            <a:off x="1955793" y="1476101"/>
            <a:ext cx="797229" cy="0"/>
          </a:xfrm>
          <a:prstGeom prst="line">
            <a:avLst/>
          </a:prstGeom>
          <a:ln w="190500" cap="flat">
            <a:solidFill>
              <a:srgbClr val="16718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3305472" y="1476101"/>
            <a:ext cx="797229" cy="0"/>
          </a:xfrm>
          <a:prstGeom prst="line">
            <a:avLst/>
          </a:prstGeom>
          <a:ln w="190500" cap="flat">
            <a:solidFill>
              <a:srgbClr val="57A3B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5516349" y="3557920"/>
            <a:ext cx="7255303" cy="0"/>
          </a:xfrm>
          <a:prstGeom prst="line">
            <a:avLst/>
          </a:prstGeom>
          <a:ln w="38100" cap="flat">
            <a:solidFill>
              <a:srgbClr val="57A3B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787881" y="1986504"/>
            <a:ext cx="16748141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GB" altLang="en-US" sz="8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Problem and Use Case</a:t>
            </a:r>
            <a:endParaRPr lang="en-GB" altLang="en-US" sz="8000" b="1" spc="-192">
              <a:solidFill>
                <a:srgbClr val="2B2B2B"/>
              </a:solidFill>
              <a:latin typeface="+mj-lt"/>
              <a:ea typeface="Poppins Bold" panose="00000800000000000000"/>
              <a:cs typeface="+mj-lt"/>
              <a:sym typeface="Poppins Bold" panose="000008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955793" y="4517309"/>
            <a:ext cx="13621731" cy="3881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0" algn="l">
              <a:lnSpc>
                <a:spcPts val="5045"/>
              </a:lnSpc>
              <a:buFont typeface="Arial" panose="020B0604020202020204"/>
              <a:buNone/>
            </a:pPr>
            <a:r>
              <a:rPr lang="en-US" altLang="en-GB" sz="3605" spc="-86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The Problem</a:t>
            </a:r>
            <a:r>
              <a:rPr lang="en-GB" altLang="en-US" sz="3605" spc="-86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:</a:t>
            </a:r>
            <a:endParaRPr lang="en-US" altLang="en-GB" sz="3605" spc="-86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  <a:p>
            <a:pPr marL="777875" lvl="1" indent="-389255" algn="l">
              <a:lnSpc>
                <a:spcPts val="5045"/>
              </a:lnSpc>
              <a:buFont typeface="Arial" panose="020B0604020202020204"/>
              <a:buChar char="•"/>
            </a:pPr>
            <a:r>
              <a:rPr lang="en-US" altLang="en-GB" sz="3605" spc="-86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Manual testing alone is not enough</a:t>
            </a:r>
            <a:endParaRPr lang="en-US" altLang="en-GB" sz="3605" spc="-86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  <a:p>
            <a:pPr marL="777875" lvl="1" indent="-389255" algn="l">
              <a:lnSpc>
                <a:spcPts val="5045"/>
              </a:lnSpc>
              <a:buFont typeface="Arial" panose="020B0604020202020204"/>
              <a:buChar char="•"/>
            </a:pPr>
            <a:r>
              <a:rPr lang="en-US" altLang="en-GB" sz="3605" spc="-86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Bugs appear across UI, API, and performance layers</a:t>
            </a:r>
            <a:endParaRPr lang="en-US" altLang="en-GB" sz="3605" spc="-86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  <a:p>
            <a:pPr marL="388620" lvl="1" indent="0" algn="l">
              <a:lnSpc>
                <a:spcPts val="5045"/>
              </a:lnSpc>
              <a:buFont typeface="Arial" panose="020B0604020202020204"/>
              <a:buNone/>
            </a:pPr>
            <a:r>
              <a:rPr lang="en-US" altLang="en-GB" sz="3605" spc="-86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Use Case</a:t>
            </a:r>
            <a:r>
              <a:rPr lang="en-GB" altLang="en-US" sz="3605" spc="-86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:</a:t>
            </a:r>
            <a:endParaRPr lang="en-US" altLang="en-GB" sz="3605" spc="-86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  <a:p>
            <a:pPr marL="777875" lvl="1" indent="-389255" algn="l">
              <a:lnSpc>
                <a:spcPts val="5045"/>
              </a:lnSpc>
              <a:buFont typeface="Arial" panose="020B0604020202020204"/>
              <a:buChar char="•"/>
            </a:pPr>
            <a:r>
              <a:rPr lang="en-US" altLang="en-GB" sz="3605" spc="-86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Web</a:t>
            </a:r>
            <a:r>
              <a:rPr lang="en-GB" altLang="en-US" sz="3605" spc="-86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 </a:t>
            </a:r>
            <a:r>
              <a:rPr lang="en-US" altLang="en-GB" sz="3605" spc="-86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based e-commerce system</a:t>
            </a:r>
            <a:endParaRPr lang="en-US" altLang="en-GB" sz="3605" spc="-86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  <a:p>
            <a:pPr marL="777875" lvl="1" indent="-389255" algn="l">
              <a:lnSpc>
                <a:spcPts val="5045"/>
              </a:lnSpc>
              <a:buFont typeface="Arial" panose="020B0604020202020204"/>
              <a:buChar char="•"/>
            </a:pPr>
            <a:r>
              <a:rPr lang="en-US" altLang="en-GB" sz="3605" spc="-86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Frontend </a:t>
            </a:r>
            <a:r>
              <a:rPr lang="en-GB" altLang="en-US" sz="3605" spc="-86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and </a:t>
            </a:r>
            <a:r>
              <a:rPr lang="en-US" altLang="en-GB" sz="3605" spc="-86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backend APIs</a:t>
            </a:r>
            <a:endParaRPr lang="en-US" altLang="en-GB" sz="3605" spc="-86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71450" y="147989"/>
            <a:ext cx="1232862" cy="1232862"/>
          </a:xfrm>
          <a:custGeom>
            <a:avLst/>
            <a:gdLst/>
            <a:ahLst/>
            <a:cxnLst/>
            <a:rect l="l" t="t" r="r" b="b"/>
            <a:pathLst>
              <a:path w="1232862" h="1232862">
                <a:moveTo>
                  <a:pt x="0" y="0"/>
                </a:moveTo>
                <a:lnTo>
                  <a:pt x="1232862" y="0"/>
                </a:lnTo>
                <a:lnTo>
                  <a:pt x="1232862" y="1232862"/>
                </a:lnTo>
                <a:lnTo>
                  <a:pt x="0" y="123286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2700000">
            <a:off x="512285" y="674306"/>
            <a:ext cx="736570" cy="365606"/>
            <a:chOff x="0" y="0"/>
            <a:chExt cx="1083733" cy="5379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3733" cy="537926"/>
            </a:xfrm>
            <a:custGeom>
              <a:avLst/>
              <a:gdLst/>
              <a:ahLst/>
              <a:cxnLst/>
              <a:rect l="l" t="t" r="r" b="b"/>
              <a:pathLst>
                <a:path w="1083733" h="537926">
                  <a:moveTo>
                    <a:pt x="541867" y="0"/>
                  </a:moveTo>
                  <a:lnTo>
                    <a:pt x="1083733" y="537926"/>
                  </a:lnTo>
                  <a:lnTo>
                    <a:pt x="0" y="537926"/>
                  </a:lnTo>
                  <a:lnTo>
                    <a:pt x="541867" y="0"/>
                  </a:lnTo>
                  <a:close/>
                </a:path>
              </a:pathLst>
            </a:custGeom>
            <a:solidFill>
              <a:srgbClr val="458FA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69333" y="211651"/>
              <a:ext cx="745067" cy="287851"/>
            </a:xfrm>
            <a:prstGeom prst="rect">
              <a:avLst/>
            </a:prstGeom>
          </p:spPr>
          <p:txBody>
            <a:bodyPr lIns="18069" tIns="18069" rIns="18069" bIns="1806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AutoShape 8"/>
          <p:cNvSpPr/>
          <p:nvPr/>
        </p:nvSpPr>
        <p:spPr>
          <a:xfrm>
            <a:off x="1955793" y="966196"/>
            <a:ext cx="797229" cy="0"/>
          </a:xfrm>
          <a:prstGeom prst="line">
            <a:avLst/>
          </a:prstGeom>
          <a:ln w="190500" cap="flat">
            <a:solidFill>
              <a:srgbClr val="16718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3276897" y="966196"/>
            <a:ext cx="797229" cy="0"/>
          </a:xfrm>
          <a:prstGeom prst="line">
            <a:avLst/>
          </a:prstGeom>
          <a:ln w="190500" cap="flat">
            <a:solidFill>
              <a:srgbClr val="57A3B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5410304" y="2874660"/>
            <a:ext cx="7255303" cy="0"/>
          </a:xfrm>
          <a:prstGeom prst="line">
            <a:avLst/>
          </a:prstGeom>
          <a:ln w="38100" cap="flat">
            <a:solidFill>
              <a:srgbClr val="57A3B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838046" y="1333724"/>
            <a:ext cx="16748141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altLang="en-GB" sz="8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End-to-End QA Workflow</a:t>
            </a:r>
            <a:endParaRPr lang="en-US" altLang="en-GB" sz="8000" b="1" spc="-192">
              <a:solidFill>
                <a:srgbClr val="2B2B2B"/>
              </a:solidFill>
              <a:latin typeface="+mj-lt"/>
              <a:ea typeface="Poppins Bold" panose="00000800000000000000"/>
              <a:cs typeface="+mj-lt"/>
              <a:sym typeface="Poppins Bold" panose="00000800000000000000"/>
            </a:endParaRPr>
          </a:p>
        </p:txBody>
      </p:sp>
      <p:pic>
        <p:nvPicPr>
          <p:cNvPr id="14" name="Picture 13" descr="Screenshot 2026-02-06 2103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086100"/>
            <a:ext cx="15660370" cy="7157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89638" y="3158715"/>
            <a:ext cx="7375772" cy="7714640"/>
          </a:xfrm>
          <a:custGeom>
            <a:avLst/>
            <a:gdLst/>
            <a:ahLst/>
            <a:cxnLst/>
            <a:rect l="l" t="t" r="r" b="b"/>
            <a:pathLst>
              <a:path w="7375772" h="7714640">
                <a:moveTo>
                  <a:pt x="0" y="0"/>
                </a:moveTo>
                <a:lnTo>
                  <a:pt x="7375772" y="0"/>
                </a:lnTo>
                <a:lnTo>
                  <a:pt x="7375772" y="7714639"/>
                </a:lnTo>
                <a:lnTo>
                  <a:pt x="0" y="771463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1450" y="147989"/>
            <a:ext cx="1232862" cy="1232862"/>
          </a:xfrm>
          <a:custGeom>
            <a:avLst/>
            <a:gdLst/>
            <a:ahLst/>
            <a:cxnLst/>
            <a:rect l="l" t="t" r="r" b="b"/>
            <a:pathLst>
              <a:path w="1232862" h="1232862">
                <a:moveTo>
                  <a:pt x="0" y="0"/>
                </a:moveTo>
                <a:lnTo>
                  <a:pt x="1232862" y="0"/>
                </a:lnTo>
                <a:lnTo>
                  <a:pt x="1232862" y="1232862"/>
                </a:lnTo>
                <a:lnTo>
                  <a:pt x="0" y="1232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2700000">
            <a:off x="512285" y="674306"/>
            <a:ext cx="736570" cy="365606"/>
            <a:chOff x="0" y="0"/>
            <a:chExt cx="1083733" cy="5379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83733" cy="537926"/>
            </a:xfrm>
            <a:custGeom>
              <a:avLst/>
              <a:gdLst/>
              <a:ahLst/>
              <a:cxnLst/>
              <a:rect l="l" t="t" r="r" b="b"/>
              <a:pathLst>
                <a:path w="1083733" h="537926">
                  <a:moveTo>
                    <a:pt x="541867" y="0"/>
                  </a:moveTo>
                  <a:lnTo>
                    <a:pt x="1083733" y="537926"/>
                  </a:lnTo>
                  <a:lnTo>
                    <a:pt x="0" y="537926"/>
                  </a:lnTo>
                  <a:lnTo>
                    <a:pt x="541867" y="0"/>
                  </a:lnTo>
                  <a:close/>
                </a:path>
              </a:pathLst>
            </a:custGeom>
            <a:solidFill>
              <a:srgbClr val="458FA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69333" y="211651"/>
              <a:ext cx="745067" cy="287851"/>
            </a:xfrm>
            <a:prstGeom prst="rect">
              <a:avLst/>
            </a:prstGeom>
          </p:spPr>
          <p:txBody>
            <a:bodyPr lIns="18069" tIns="18069" rIns="18069" bIns="1806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7" name="AutoShape 7"/>
          <p:cNvSpPr/>
          <p:nvPr/>
        </p:nvSpPr>
        <p:spPr>
          <a:xfrm>
            <a:off x="1955793" y="1476101"/>
            <a:ext cx="797229" cy="0"/>
          </a:xfrm>
          <a:prstGeom prst="line">
            <a:avLst/>
          </a:prstGeom>
          <a:ln w="190500" cap="flat">
            <a:solidFill>
              <a:srgbClr val="16718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3305472" y="1476101"/>
            <a:ext cx="797229" cy="0"/>
          </a:xfrm>
          <a:prstGeom prst="line">
            <a:avLst/>
          </a:prstGeom>
          <a:ln w="190500" cap="flat">
            <a:solidFill>
              <a:srgbClr val="57A3B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5516349" y="3557920"/>
            <a:ext cx="7255303" cy="0"/>
          </a:xfrm>
          <a:prstGeom prst="line">
            <a:avLst/>
          </a:prstGeom>
          <a:ln w="38100" cap="flat">
            <a:solidFill>
              <a:srgbClr val="57A3B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787881" y="1986504"/>
            <a:ext cx="16748141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altLang="en-GB" sz="8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Manual Testing Overview</a:t>
            </a:r>
            <a:endParaRPr lang="en-US" altLang="en-GB" sz="8000" b="1" spc="-192">
              <a:solidFill>
                <a:srgbClr val="2B2B2B"/>
              </a:solidFill>
              <a:latin typeface="+mj-lt"/>
              <a:ea typeface="Poppins Bold" panose="00000800000000000000"/>
              <a:cs typeface="+mj-lt"/>
              <a:sym typeface="Poppins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955793" y="4517309"/>
            <a:ext cx="13621731" cy="258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875" lvl="1" indent="-389255" algn="l">
              <a:lnSpc>
                <a:spcPts val="5045"/>
              </a:lnSpc>
              <a:buFont typeface="Arial" panose="020B0604020202020204"/>
              <a:buChar char="•"/>
            </a:pPr>
            <a:r>
              <a:rPr lang="en-US" altLang="en-GB" sz="3605" spc="-86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Happy and negative user scenarios</a:t>
            </a:r>
            <a:endParaRPr lang="en-US" altLang="en-GB" sz="3605" spc="-86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  <a:p>
            <a:pPr marL="777875" lvl="1" indent="-389255" algn="l">
              <a:lnSpc>
                <a:spcPts val="5045"/>
              </a:lnSpc>
              <a:buFont typeface="Arial" panose="020B0604020202020204"/>
              <a:buChar char="•"/>
            </a:pPr>
            <a:r>
              <a:rPr lang="en-US" altLang="en-GB" sz="3605" spc="-86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Core user flows (login, products, cart, checkout)</a:t>
            </a:r>
            <a:endParaRPr lang="en-US" altLang="en-GB" sz="3605" spc="-86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  <a:p>
            <a:pPr marL="777875" lvl="1" indent="-389255" algn="l">
              <a:lnSpc>
                <a:spcPts val="5045"/>
              </a:lnSpc>
              <a:buFont typeface="Arial" panose="020B0604020202020204"/>
              <a:buChar char="•"/>
            </a:pPr>
            <a:r>
              <a:rPr lang="en-US" altLang="en-GB" sz="3605" spc="-86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Multiple user types tested</a:t>
            </a:r>
            <a:endParaRPr lang="en-US" altLang="en-GB" sz="3605" spc="-86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  <a:p>
            <a:pPr marL="777875" lvl="1" indent="-389255" algn="l">
              <a:lnSpc>
                <a:spcPts val="5045"/>
              </a:lnSpc>
              <a:buFont typeface="Arial" panose="020B0604020202020204"/>
              <a:buChar char="•"/>
            </a:pPr>
            <a:r>
              <a:rPr lang="en-US" altLang="en-GB" sz="3605" spc="-86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Manual execution before automation</a:t>
            </a:r>
            <a:r>
              <a:rPr lang="en-US" sz="3605" spc="-86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.</a:t>
            </a:r>
            <a:endParaRPr>
              <a:cs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71450" y="147989"/>
            <a:ext cx="1232862" cy="1232862"/>
          </a:xfrm>
          <a:custGeom>
            <a:avLst/>
            <a:gdLst/>
            <a:ahLst/>
            <a:cxnLst/>
            <a:rect l="l" t="t" r="r" b="b"/>
            <a:pathLst>
              <a:path w="1232862" h="1232862">
                <a:moveTo>
                  <a:pt x="0" y="0"/>
                </a:moveTo>
                <a:lnTo>
                  <a:pt x="1232862" y="0"/>
                </a:lnTo>
                <a:lnTo>
                  <a:pt x="1232862" y="1232862"/>
                </a:lnTo>
                <a:lnTo>
                  <a:pt x="0" y="123286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2700000">
            <a:off x="512285" y="674306"/>
            <a:ext cx="736570" cy="365606"/>
            <a:chOff x="0" y="0"/>
            <a:chExt cx="1083733" cy="5379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3733" cy="537926"/>
            </a:xfrm>
            <a:custGeom>
              <a:avLst/>
              <a:gdLst/>
              <a:ahLst/>
              <a:cxnLst/>
              <a:rect l="l" t="t" r="r" b="b"/>
              <a:pathLst>
                <a:path w="1083733" h="537926">
                  <a:moveTo>
                    <a:pt x="541867" y="0"/>
                  </a:moveTo>
                  <a:lnTo>
                    <a:pt x="1083733" y="537926"/>
                  </a:lnTo>
                  <a:lnTo>
                    <a:pt x="0" y="537926"/>
                  </a:lnTo>
                  <a:lnTo>
                    <a:pt x="541867" y="0"/>
                  </a:lnTo>
                  <a:close/>
                </a:path>
              </a:pathLst>
            </a:custGeom>
            <a:solidFill>
              <a:srgbClr val="458FA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69333" y="211651"/>
              <a:ext cx="745067" cy="287851"/>
            </a:xfrm>
            <a:prstGeom prst="rect">
              <a:avLst/>
            </a:prstGeom>
          </p:spPr>
          <p:txBody>
            <a:bodyPr lIns="18069" tIns="18069" rIns="18069" bIns="1806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AutoShape 8"/>
          <p:cNvSpPr/>
          <p:nvPr/>
        </p:nvSpPr>
        <p:spPr>
          <a:xfrm>
            <a:off x="1955793" y="952226"/>
            <a:ext cx="797229" cy="0"/>
          </a:xfrm>
          <a:prstGeom prst="line">
            <a:avLst/>
          </a:prstGeom>
          <a:ln w="190500" cap="flat">
            <a:solidFill>
              <a:srgbClr val="16718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3305472" y="947781"/>
            <a:ext cx="797229" cy="0"/>
          </a:xfrm>
          <a:prstGeom prst="line">
            <a:avLst/>
          </a:prstGeom>
          <a:ln w="190500" cap="flat">
            <a:solidFill>
              <a:srgbClr val="57A3B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5516349" y="2990865"/>
            <a:ext cx="7255303" cy="0"/>
          </a:xfrm>
          <a:prstGeom prst="line">
            <a:avLst/>
          </a:prstGeom>
          <a:ln w="38100" cap="flat">
            <a:solidFill>
              <a:srgbClr val="57A3B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609600" y="1562100"/>
            <a:ext cx="17215485" cy="1066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altLang="en-GB" sz="8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Manual Test Cases </a:t>
            </a:r>
            <a:r>
              <a:rPr lang="en-GB" altLang="en-US" sz="8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and</a:t>
            </a:r>
            <a:r>
              <a:rPr lang="en-US" altLang="en-GB" sz="8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 Execution Summary</a:t>
            </a:r>
            <a:endParaRPr lang="en-US" altLang="en-GB" sz="8000" b="1" spc="-192">
              <a:solidFill>
                <a:srgbClr val="2B2B2B"/>
              </a:solidFill>
              <a:latin typeface="+mj-lt"/>
              <a:ea typeface="Poppins Bold" panose="00000800000000000000"/>
              <a:cs typeface="+mj-lt"/>
              <a:sym typeface="Poppins Bold" panose="00000800000000000000"/>
            </a:endParaRPr>
          </a:p>
        </p:txBody>
      </p:sp>
      <p:pic>
        <p:nvPicPr>
          <p:cNvPr id="1339152875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985" y="3314700"/>
            <a:ext cx="16388080" cy="153479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1220" y="5448300"/>
            <a:ext cx="11612245" cy="4312285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6553200" y="4838700"/>
            <a:ext cx="55657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GB" sz="2400">
                <a:cs typeface="+mn-lt"/>
              </a:rPr>
              <a:t>- Sample Manual Test Case -</a:t>
            </a:r>
            <a:endParaRPr lang="en-GB" sz="2400">
              <a:cs typeface="+mn-lt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6360795" y="9760585"/>
            <a:ext cx="55657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GB" sz="2400">
                <a:cs typeface="+mn-lt"/>
              </a:rPr>
              <a:t>- Executive Summary -</a:t>
            </a:r>
            <a:endParaRPr lang="en-GB" sz="2400">
              <a:cs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71450" y="147989"/>
            <a:ext cx="1232862" cy="1232862"/>
          </a:xfrm>
          <a:custGeom>
            <a:avLst/>
            <a:gdLst/>
            <a:ahLst/>
            <a:cxnLst/>
            <a:rect l="l" t="t" r="r" b="b"/>
            <a:pathLst>
              <a:path w="1232862" h="1232862">
                <a:moveTo>
                  <a:pt x="0" y="0"/>
                </a:moveTo>
                <a:lnTo>
                  <a:pt x="1232862" y="0"/>
                </a:lnTo>
                <a:lnTo>
                  <a:pt x="1232862" y="1232862"/>
                </a:lnTo>
                <a:lnTo>
                  <a:pt x="0" y="123286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2700000">
            <a:off x="512285" y="674306"/>
            <a:ext cx="736570" cy="365606"/>
            <a:chOff x="0" y="0"/>
            <a:chExt cx="1083733" cy="5379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83733" cy="537926"/>
            </a:xfrm>
            <a:custGeom>
              <a:avLst/>
              <a:gdLst/>
              <a:ahLst/>
              <a:cxnLst/>
              <a:rect l="l" t="t" r="r" b="b"/>
              <a:pathLst>
                <a:path w="1083733" h="537926">
                  <a:moveTo>
                    <a:pt x="541867" y="0"/>
                  </a:moveTo>
                  <a:lnTo>
                    <a:pt x="1083733" y="537926"/>
                  </a:lnTo>
                  <a:lnTo>
                    <a:pt x="0" y="537926"/>
                  </a:lnTo>
                  <a:lnTo>
                    <a:pt x="541867" y="0"/>
                  </a:lnTo>
                  <a:close/>
                </a:path>
              </a:pathLst>
            </a:custGeom>
            <a:solidFill>
              <a:srgbClr val="458FA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69333" y="211651"/>
              <a:ext cx="745067" cy="287851"/>
            </a:xfrm>
            <a:prstGeom prst="rect">
              <a:avLst/>
            </a:prstGeom>
          </p:spPr>
          <p:txBody>
            <a:bodyPr lIns="18069" tIns="18069" rIns="18069" bIns="1806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7" name="AutoShape 7"/>
          <p:cNvSpPr/>
          <p:nvPr/>
        </p:nvSpPr>
        <p:spPr>
          <a:xfrm>
            <a:off x="1955793" y="1476101"/>
            <a:ext cx="797229" cy="0"/>
          </a:xfrm>
          <a:prstGeom prst="line">
            <a:avLst/>
          </a:prstGeom>
          <a:ln w="190500" cap="flat">
            <a:solidFill>
              <a:srgbClr val="16718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3305472" y="1476101"/>
            <a:ext cx="797229" cy="0"/>
          </a:xfrm>
          <a:prstGeom prst="line">
            <a:avLst/>
          </a:prstGeom>
          <a:ln w="190500" cap="flat">
            <a:solidFill>
              <a:srgbClr val="57A3B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5516349" y="3086115"/>
            <a:ext cx="7255303" cy="0"/>
          </a:xfrm>
          <a:prstGeom prst="line">
            <a:avLst/>
          </a:prstGeom>
          <a:ln w="38100" cap="flat">
            <a:solidFill>
              <a:srgbClr val="57A3B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787881" y="1790924"/>
            <a:ext cx="16748141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altLang="en-GB" sz="8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Defects Overview</a:t>
            </a:r>
            <a:endParaRPr lang="en-US" altLang="en-GB" sz="8000" b="1" spc="-192">
              <a:solidFill>
                <a:srgbClr val="2B2B2B"/>
              </a:solidFill>
              <a:latin typeface="+mj-lt"/>
              <a:ea typeface="Poppins Bold" panose="00000800000000000000"/>
              <a:cs typeface="+mj-lt"/>
              <a:sym typeface="Poppins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955793" y="4517309"/>
            <a:ext cx="13621731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0" algn="l">
              <a:lnSpc>
                <a:spcPts val="5045"/>
              </a:lnSpc>
              <a:buFont typeface="Arial" panose="020B0604020202020204"/>
              <a:buNone/>
            </a:pPr>
            <a:r>
              <a:rPr lang="en-US" sz="3605" spc="-86">
                <a:solidFill>
                  <a:srgbClr val="2B2B2B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</a:t>
            </a:r>
            <a:endParaRPr lang="en-US" sz="3605" spc="-86">
              <a:solidFill>
                <a:srgbClr val="2B2B2B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314700"/>
            <a:ext cx="7713980" cy="633730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2057400" y="9791700"/>
            <a:ext cx="55657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GB" altLang="en-US" sz="2400">
                <a:cs typeface="+mn-lt"/>
              </a:rPr>
              <a:t>- </a:t>
            </a:r>
            <a:r>
              <a:rPr lang="en-US" altLang="en-GB" sz="2400">
                <a:cs typeface="+mn-lt"/>
              </a:rPr>
              <a:t>Defect Distribution by Functional Area</a:t>
            </a:r>
            <a:r>
              <a:rPr lang="en-GB" altLang="en-US" sz="2400">
                <a:cs typeface="+mn-lt"/>
              </a:rPr>
              <a:t> -</a:t>
            </a:r>
            <a:endParaRPr lang="en-GB" altLang="en-US" sz="2400">
              <a:cs typeface="+mn-lt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600" y="5250815"/>
            <a:ext cx="6536055" cy="4401185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10668000" y="9801225"/>
            <a:ext cx="55657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GB" altLang="en-US" sz="2400">
                <a:cs typeface="+mn-lt"/>
              </a:rPr>
              <a:t>- </a:t>
            </a:r>
            <a:r>
              <a:rPr lang="en-US" altLang="en-GB" sz="2400">
                <a:cs typeface="+mn-lt"/>
              </a:rPr>
              <a:t>Defect Severity Distribution</a:t>
            </a:r>
            <a:r>
              <a:rPr lang="en-GB" altLang="en-US" sz="2400">
                <a:cs typeface="+mn-lt"/>
              </a:rPr>
              <a:t> -</a:t>
            </a:r>
            <a:endParaRPr lang="en-GB" altLang="en-US" sz="2400">
              <a:cs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71450" y="147989"/>
            <a:ext cx="1232862" cy="1232862"/>
          </a:xfrm>
          <a:custGeom>
            <a:avLst/>
            <a:gdLst/>
            <a:ahLst/>
            <a:cxnLst/>
            <a:rect l="l" t="t" r="r" b="b"/>
            <a:pathLst>
              <a:path w="1232862" h="1232862">
                <a:moveTo>
                  <a:pt x="0" y="0"/>
                </a:moveTo>
                <a:lnTo>
                  <a:pt x="1232862" y="0"/>
                </a:lnTo>
                <a:lnTo>
                  <a:pt x="1232862" y="1232862"/>
                </a:lnTo>
                <a:lnTo>
                  <a:pt x="0" y="123286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2700000">
            <a:off x="512285" y="674306"/>
            <a:ext cx="736570" cy="365606"/>
            <a:chOff x="0" y="0"/>
            <a:chExt cx="1083733" cy="5379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83733" cy="537926"/>
            </a:xfrm>
            <a:custGeom>
              <a:avLst/>
              <a:gdLst/>
              <a:ahLst/>
              <a:cxnLst/>
              <a:rect l="l" t="t" r="r" b="b"/>
              <a:pathLst>
                <a:path w="1083733" h="537926">
                  <a:moveTo>
                    <a:pt x="541867" y="0"/>
                  </a:moveTo>
                  <a:lnTo>
                    <a:pt x="1083733" y="537926"/>
                  </a:lnTo>
                  <a:lnTo>
                    <a:pt x="0" y="537926"/>
                  </a:lnTo>
                  <a:lnTo>
                    <a:pt x="541867" y="0"/>
                  </a:lnTo>
                  <a:close/>
                </a:path>
              </a:pathLst>
            </a:custGeom>
            <a:solidFill>
              <a:srgbClr val="458FA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69333" y="211651"/>
              <a:ext cx="745067" cy="287851"/>
            </a:xfrm>
            <a:prstGeom prst="rect">
              <a:avLst/>
            </a:prstGeom>
          </p:spPr>
          <p:txBody>
            <a:bodyPr lIns="18069" tIns="18069" rIns="18069" bIns="1806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7" name="AutoShape 7"/>
          <p:cNvSpPr/>
          <p:nvPr/>
        </p:nvSpPr>
        <p:spPr>
          <a:xfrm>
            <a:off x="1955793" y="1476101"/>
            <a:ext cx="797229" cy="0"/>
          </a:xfrm>
          <a:prstGeom prst="line">
            <a:avLst/>
          </a:prstGeom>
          <a:ln w="190500" cap="flat">
            <a:solidFill>
              <a:srgbClr val="16718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3305472" y="1476101"/>
            <a:ext cx="797229" cy="0"/>
          </a:xfrm>
          <a:prstGeom prst="line">
            <a:avLst/>
          </a:prstGeom>
          <a:ln w="190500" cap="flat">
            <a:solidFill>
              <a:srgbClr val="57A3B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5516349" y="3557920"/>
            <a:ext cx="7255303" cy="0"/>
          </a:xfrm>
          <a:prstGeom prst="line">
            <a:avLst/>
          </a:prstGeom>
          <a:ln w="38100" cap="flat">
            <a:solidFill>
              <a:srgbClr val="57A3B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-152400" y="2091690"/>
            <a:ext cx="18570575" cy="1066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altLang="en-GB" sz="7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API Testing </a:t>
            </a:r>
            <a:r>
              <a:rPr lang="en-GB" altLang="en-US" sz="7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using </a:t>
            </a:r>
            <a:r>
              <a:rPr lang="en-US" altLang="en-GB" sz="7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Postman Collection </a:t>
            </a:r>
            <a:r>
              <a:rPr lang="en-GB" altLang="en-US" sz="7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and</a:t>
            </a:r>
            <a:r>
              <a:rPr lang="en-US" altLang="en-GB" sz="7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 Assertions</a:t>
            </a:r>
            <a:endParaRPr lang="en-US" altLang="en-GB" sz="7000" b="1" spc="-192">
              <a:solidFill>
                <a:srgbClr val="2B2B2B"/>
              </a:solidFill>
              <a:latin typeface="+mj-lt"/>
              <a:ea typeface="Poppins Bold" panose="00000800000000000000"/>
              <a:cs typeface="+mj-lt"/>
              <a:sym typeface="Poppins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878820" y="5372100"/>
            <a:ext cx="7484110" cy="3234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45820" lvl="1" indent="-457200" algn="l">
              <a:lnSpc>
                <a:spcPts val="5045"/>
              </a:lnSpc>
              <a:buFont typeface="Arial" panose="020B0604020202020204" pitchFamily="34" charset="0"/>
              <a:buChar char="•"/>
            </a:pPr>
            <a:r>
              <a:rPr lang="en-US" altLang="en-GB" sz="3000" spc="-86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Structured collection</a:t>
            </a:r>
            <a:endParaRPr lang="en-US" altLang="en-GB" sz="3000" spc="-86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  <a:p>
            <a:pPr marL="388620" lvl="1" indent="457200" algn="l">
              <a:lnSpc>
                <a:spcPts val="5045"/>
              </a:lnSpc>
              <a:buFont typeface="Arial" panose="020B0604020202020204" pitchFamily="34" charset="0"/>
              <a:buNone/>
            </a:pPr>
            <a:r>
              <a:rPr lang="en-US" altLang="en-GB" sz="3000" spc="-86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(Auth / Users / Products / Carts)</a:t>
            </a:r>
            <a:endParaRPr lang="en-US" altLang="en-GB" sz="3000" spc="-86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  <a:p>
            <a:pPr marL="960120" lvl="1" indent="-571500" algn="l">
              <a:lnSpc>
                <a:spcPts val="5045"/>
              </a:lnSpc>
              <a:buFont typeface="Arial" panose="020B0604020202020204" pitchFamily="34" charset="0"/>
              <a:buChar char="•"/>
            </a:pPr>
            <a:r>
              <a:rPr lang="en-US" altLang="en-GB" sz="3000" spc="-86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Automated assertions </a:t>
            </a:r>
            <a:endParaRPr lang="en-US" altLang="en-GB" sz="3000" spc="-86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  <a:p>
            <a:pPr marL="388620" lvl="1" indent="457200" algn="l">
              <a:lnSpc>
                <a:spcPts val="5045"/>
              </a:lnSpc>
              <a:buFont typeface="Arial" panose="020B0604020202020204" pitchFamily="34" charset="0"/>
              <a:buNone/>
            </a:pPr>
            <a:r>
              <a:rPr lang="en-US" altLang="en-GB" sz="3000" spc="-86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(status, JSON fields, response time)</a:t>
            </a:r>
            <a:endParaRPr lang="en-US" altLang="en-GB" sz="3000" spc="-86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  <a:p>
            <a:pPr marL="960120" lvl="1" indent="-571500" algn="l">
              <a:lnSpc>
                <a:spcPts val="5045"/>
              </a:lnSpc>
              <a:buFont typeface="Arial" panose="020B0604020202020204" pitchFamily="34" charset="0"/>
              <a:buChar char="•"/>
            </a:pPr>
            <a:r>
              <a:rPr lang="en-US" altLang="en-GB" sz="3000" spc="-86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Environment variables + reusable test data</a:t>
            </a:r>
            <a:endParaRPr lang="en-US" altLang="en-GB" sz="3000" spc="-86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</p:txBody>
      </p:sp>
      <p:pic>
        <p:nvPicPr>
          <p:cNvPr id="1844845085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35" y="4152900"/>
            <a:ext cx="4832985" cy="5599430"/>
          </a:xfrm>
          <a:prstGeom prst="rect">
            <a:avLst/>
          </a:prstGeom>
        </p:spPr>
      </p:pic>
      <p:pic>
        <p:nvPicPr>
          <p:cNvPr id="113198498" name="Picture 4" descr="A screenshot of a computer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300" y="4160520"/>
            <a:ext cx="5065395" cy="562102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2057400" y="9791700"/>
            <a:ext cx="55657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GB" altLang="en-US" sz="2400">
                <a:cs typeface="+mn-lt"/>
              </a:rPr>
              <a:t>- </a:t>
            </a:r>
            <a:r>
              <a:rPr lang="en-US" altLang="en-GB" sz="2400">
                <a:cs typeface="+mn-lt"/>
              </a:rPr>
              <a:t>Postman API Collection Structure</a:t>
            </a:r>
            <a:r>
              <a:rPr lang="en-GB" altLang="en-US" sz="2400">
                <a:cs typeface="+mn-lt"/>
              </a:rPr>
              <a:t> -</a:t>
            </a:r>
            <a:endParaRPr lang="en-GB" altLang="en-US" sz="2400">
              <a:cs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1450" y="147989"/>
            <a:ext cx="1232862" cy="1232862"/>
          </a:xfrm>
          <a:custGeom>
            <a:avLst/>
            <a:gdLst/>
            <a:ahLst/>
            <a:cxnLst/>
            <a:rect l="l" t="t" r="r" b="b"/>
            <a:pathLst>
              <a:path w="1232862" h="1232862">
                <a:moveTo>
                  <a:pt x="0" y="0"/>
                </a:moveTo>
                <a:lnTo>
                  <a:pt x="1232862" y="0"/>
                </a:lnTo>
                <a:lnTo>
                  <a:pt x="1232862" y="1232862"/>
                </a:lnTo>
                <a:lnTo>
                  <a:pt x="0" y="123286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2700000">
            <a:off x="512285" y="674306"/>
            <a:ext cx="736570" cy="365606"/>
            <a:chOff x="0" y="0"/>
            <a:chExt cx="1083733" cy="5379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83733" cy="537926"/>
            </a:xfrm>
            <a:custGeom>
              <a:avLst/>
              <a:gdLst/>
              <a:ahLst/>
              <a:cxnLst/>
              <a:rect l="l" t="t" r="r" b="b"/>
              <a:pathLst>
                <a:path w="1083733" h="537926">
                  <a:moveTo>
                    <a:pt x="541867" y="0"/>
                  </a:moveTo>
                  <a:lnTo>
                    <a:pt x="1083733" y="537926"/>
                  </a:lnTo>
                  <a:lnTo>
                    <a:pt x="0" y="537926"/>
                  </a:lnTo>
                  <a:lnTo>
                    <a:pt x="541867" y="0"/>
                  </a:lnTo>
                  <a:close/>
                </a:path>
              </a:pathLst>
            </a:custGeom>
            <a:solidFill>
              <a:srgbClr val="458FA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69333" y="211651"/>
              <a:ext cx="745067" cy="287851"/>
            </a:xfrm>
            <a:prstGeom prst="rect">
              <a:avLst/>
            </a:prstGeom>
          </p:spPr>
          <p:txBody>
            <a:bodyPr lIns="18069" tIns="18069" rIns="18069" bIns="1806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6" name="AutoShape 6"/>
          <p:cNvSpPr/>
          <p:nvPr/>
        </p:nvSpPr>
        <p:spPr>
          <a:xfrm>
            <a:off x="1955793" y="1028426"/>
            <a:ext cx="797229" cy="0"/>
          </a:xfrm>
          <a:prstGeom prst="line">
            <a:avLst/>
          </a:prstGeom>
          <a:ln w="190500" cap="flat">
            <a:solidFill>
              <a:srgbClr val="16718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3208952" y="1028426"/>
            <a:ext cx="797229" cy="0"/>
          </a:xfrm>
          <a:prstGeom prst="line">
            <a:avLst/>
          </a:prstGeom>
          <a:ln w="190500" cap="flat">
            <a:solidFill>
              <a:srgbClr val="57A3B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5486504" y="2781315"/>
            <a:ext cx="7255303" cy="0"/>
          </a:xfrm>
          <a:prstGeom prst="line">
            <a:avLst/>
          </a:prstGeom>
          <a:ln w="38100" cap="flat">
            <a:solidFill>
              <a:srgbClr val="57A3B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327660" y="1409700"/>
            <a:ext cx="17575530" cy="1066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altLang="en-GB" sz="7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API Automation</a:t>
            </a:r>
            <a:r>
              <a:rPr lang="en-GB" altLang="en-US" sz="7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 using</a:t>
            </a:r>
            <a:r>
              <a:rPr lang="en-US" altLang="en-GB" sz="7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 Newman </a:t>
            </a:r>
            <a:endParaRPr lang="en-US" altLang="en-GB" sz="7000" b="1" spc="-192">
              <a:solidFill>
                <a:srgbClr val="2B2B2B"/>
              </a:solidFill>
              <a:latin typeface="+mj-lt"/>
              <a:ea typeface="Poppins Bold" panose="00000800000000000000"/>
              <a:cs typeface="+mj-lt"/>
              <a:sym typeface="Poppins Bold" panose="00000800000000000000"/>
            </a:endParaRPr>
          </a:p>
        </p:txBody>
      </p:sp>
      <p:pic>
        <p:nvPicPr>
          <p:cNvPr id="1407774770" name="Picture 8" descr="A screenshot of a computer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2933700"/>
            <a:ext cx="10252075" cy="702056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6400800" y="9867900"/>
            <a:ext cx="55657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GB" sz="2000">
                <a:cs typeface="+mn-lt"/>
              </a:rPr>
              <a:t>- Newman HTML Execution Report Summary -</a:t>
            </a:r>
            <a:endParaRPr lang="en-GB" sz="2000">
              <a:cs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71450" y="147989"/>
            <a:ext cx="1232862" cy="1232862"/>
          </a:xfrm>
          <a:custGeom>
            <a:avLst/>
            <a:gdLst/>
            <a:ahLst/>
            <a:cxnLst/>
            <a:rect l="l" t="t" r="r" b="b"/>
            <a:pathLst>
              <a:path w="1232862" h="1232862">
                <a:moveTo>
                  <a:pt x="0" y="0"/>
                </a:moveTo>
                <a:lnTo>
                  <a:pt x="1232862" y="0"/>
                </a:lnTo>
                <a:lnTo>
                  <a:pt x="1232862" y="1232862"/>
                </a:lnTo>
                <a:lnTo>
                  <a:pt x="0" y="123286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2700000">
            <a:off x="512285" y="674306"/>
            <a:ext cx="736570" cy="365606"/>
            <a:chOff x="0" y="0"/>
            <a:chExt cx="1083733" cy="5379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3733" cy="537926"/>
            </a:xfrm>
            <a:custGeom>
              <a:avLst/>
              <a:gdLst/>
              <a:ahLst/>
              <a:cxnLst/>
              <a:rect l="l" t="t" r="r" b="b"/>
              <a:pathLst>
                <a:path w="1083733" h="537926">
                  <a:moveTo>
                    <a:pt x="541867" y="0"/>
                  </a:moveTo>
                  <a:lnTo>
                    <a:pt x="1083733" y="537926"/>
                  </a:lnTo>
                  <a:lnTo>
                    <a:pt x="0" y="537926"/>
                  </a:lnTo>
                  <a:lnTo>
                    <a:pt x="541867" y="0"/>
                  </a:lnTo>
                  <a:close/>
                </a:path>
              </a:pathLst>
            </a:custGeom>
            <a:solidFill>
              <a:srgbClr val="458FA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69333" y="211651"/>
              <a:ext cx="745067" cy="287851"/>
            </a:xfrm>
            <a:prstGeom prst="rect">
              <a:avLst/>
            </a:prstGeom>
          </p:spPr>
          <p:txBody>
            <a:bodyPr lIns="18069" tIns="18069" rIns="18069" bIns="1806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AutoShape 8"/>
          <p:cNvSpPr/>
          <p:nvPr/>
        </p:nvSpPr>
        <p:spPr>
          <a:xfrm>
            <a:off x="1955793" y="1476101"/>
            <a:ext cx="797229" cy="0"/>
          </a:xfrm>
          <a:prstGeom prst="line">
            <a:avLst/>
          </a:prstGeom>
          <a:ln w="190500" cap="flat">
            <a:solidFill>
              <a:srgbClr val="16718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3305472" y="1476101"/>
            <a:ext cx="797229" cy="0"/>
          </a:xfrm>
          <a:prstGeom prst="line">
            <a:avLst/>
          </a:prstGeom>
          <a:ln w="190500" cap="flat">
            <a:solidFill>
              <a:srgbClr val="57A3B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5516349" y="3557920"/>
            <a:ext cx="7255303" cy="0"/>
          </a:xfrm>
          <a:prstGeom prst="line">
            <a:avLst/>
          </a:prstGeom>
          <a:ln w="38100" cap="flat">
            <a:solidFill>
              <a:srgbClr val="57A3B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787881" y="1986504"/>
            <a:ext cx="16748141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altLang="en-GB" sz="8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API Performance Testing</a:t>
            </a:r>
            <a:r>
              <a:rPr lang="en-GB" altLang="en-US" sz="8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 using</a:t>
            </a:r>
            <a:r>
              <a:rPr lang="en-US" altLang="en-GB" sz="8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 k6</a:t>
            </a:r>
            <a:endParaRPr lang="en-US" altLang="en-GB" sz="8000" b="1" spc="-192">
              <a:solidFill>
                <a:srgbClr val="2B2B2B"/>
              </a:solidFill>
              <a:latin typeface="+mj-lt"/>
              <a:ea typeface="Poppins Bold" panose="00000800000000000000"/>
              <a:cs typeface="+mj-lt"/>
              <a:sym typeface="Poppins Bold" panose="0000080000000000000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43500"/>
            <a:ext cx="9924415" cy="353631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5219700"/>
            <a:ext cx="7804785" cy="3362325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2057400" y="8877300"/>
            <a:ext cx="57124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GB" altLang="en-US" sz="2400">
                <a:cs typeface="+mn-lt"/>
              </a:rPr>
              <a:t>- </a:t>
            </a:r>
            <a:r>
              <a:rPr lang="en-US" altLang="en-GB" sz="2400">
                <a:cs typeface="+mn-lt"/>
              </a:rPr>
              <a:t>Defined Performance KPIs and Thresholds</a:t>
            </a:r>
            <a:r>
              <a:rPr lang="en-GB" altLang="en-US" sz="2400">
                <a:cs typeface="+mn-lt"/>
              </a:rPr>
              <a:t> -</a:t>
            </a:r>
            <a:endParaRPr lang="en-GB" altLang="en-US" sz="2400">
              <a:cs typeface="+mn-lt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11430000" y="8877300"/>
            <a:ext cx="57124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GB" altLang="en-US" sz="2400">
                <a:cs typeface="+mn-lt"/>
              </a:rPr>
              <a:t>- </a:t>
            </a:r>
            <a:r>
              <a:rPr lang="en-US" altLang="en-GB" sz="2400">
                <a:cs typeface="+mn-lt"/>
              </a:rPr>
              <a:t>Smoke Test vs Load Test Results</a:t>
            </a:r>
            <a:r>
              <a:rPr lang="en-GB" altLang="en-US" sz="2400">
                <a:cs typeface="+mn-lt"/>
              </a:rPr>
              <a:t> -</a:t>
            </a:r>
            <a:endParaRPr lang="en-GB" altLang="en-US" sz="2400">
              <a:cs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71450" y="147989"/>
            <a:ext cx="1232862" cy="1232862"/>
          </a:xfrm>
          <a:custGeom>
            <a:avLst/>
            <a:gdLst/>
            <a:ahLst/>
            <a:cxnLst/>
            <a:rect l="l" t="t" r="r" b="b"/>
            <a:pathLst>
              <a:path w="1232862" h="1232862">
                <a:moveTo>
                  <a:pt x="0" y="0"/>
                </a:moveTo>
                <a:lnTo>
                  <a:pt x="1232862" y="0"/>
                </a:lnTo>
                <a:lnTo>
                  <a:pt x="1232862" y="1232862"/>
                </a:lnTo>
                <a:lnTo>
                  <a:pt x="0" y="123286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2700000">
            <a:off x="512285" y="674306"/>
            <a:ext cx="736570" cy="365606"/>
            <a:chOff x="0" y="0"/>
            <a:chExt cx="1083733" cy="5379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83733" cy="537926"/>
            </a:xfrm>
            <a:custGeom>
              <a:avLst/>
              <a:gdLst/>
              <a:ahLst/>
              <a:cxnLst/>
              <a:rect l="l" t="t" r="r" b="b"/>
              <a:pathLst>
                <a:path w="1083733" h="537926">
                  <a:moveTo>
                    <a:pt x="541867" y="0"/>
                  </a:moveTo>
                  <a:lnTo>
                    <a:pt x="1083733" y="537926"/>
                  </a:lnTo>
                  <a:lnTo>
                    <a:pt x="0" y="537926"/>
                  </a:lnTo>
                  <a:lnTo>
                    <a:pt x="541867" y="0"/>
                  </a:lnTo>
                  <a:close/>
                </a:path>
              </a:pathLst>
            </a:custGeom>
            <a:solidFill>
              <a:srgbClr val="458FA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69333" y="211651"/>
              <a:ext cx="745067" cy="287851"/>
            </a:xfrm>
            <a:prstGeom prst="rect">
              <a:avLst/>
            </a:prstGeom>
          </p:spPr>
          <p:txBody>
            <a:bodyPr lIns="18069" tIns="18069" rIns="18069" bIns="1806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7" name="AutoShape 7"/>
          <p:cNvSpPr/>
          <p:nvPr/>
        </p:nvSpPr>
        <p:spPr>
          <a:xfrm>
            <a:off x="1955793" y="1476101"/>
            <a:ext cx="797229" cy="0"/>
          </a:xfrm>
          <a:prstGeom prst="line">
            <a:avLst/>
          </a:prstGeom>
          <a:ln w="190500" cap="flat">
            <a:solidFill>
              <a:srgbClr val="16718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3305472" y="1476101"/>
            <a:ext cx="797229" cy="0"/>
          </a:xfrm>
          <a:prstGeom prst="line">
            <a:avLst/>
          </a:prstGeom>
          <a:ln w="190500" cap="flat">
            <a:solidFill>
              <a:srgbClr val="57A3B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5516349" y="3557920"/>
            <a:ext cx="7255303" cy="0"/>
          </a:xfrm>
          <a:prstGeom prst="line">
            <a:avLst/>
          </a:prstGeom>
          <a:ln w="38100" cap="flat">
            <a:solidFill>
              <a:srgbClr val="57A3B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71450" y="1986280"/>
            <a:ext cx="17364710" cy="1066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altLang="en-GB" sz="8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UI Automation </a:t>
            </a:r>
            <a:r>
              <a:rPr lang="en-GB" altLang="en-US" sz="8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using</a:t>
            </a:r>
            <a:r>
              <a:rPr lang="en-US" altLang="en-GB" sz="8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 Selenium </a:t>
            </a:r>
            <a:r>
              <a:rPr lang="en-GB" altLang="en-US" sz="8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and</a:t>
            </a:r>
            <a:r>
              <a:rPr lang="en-US" altLang="en-GB" sz="8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 TestNG</a:t>
            </a:r>
            <a:endParaRPr lang="en-US" altLang="en-GB" sz="8000" b="1" spc="-192">
              <a:solidFill>
                <a:srgbClr val="2B2B2B"/>
              </a:solidFill>
              <a:latin typeface="+mj-lt"/>
              <a:ea typeface="Poppins Bold" panose="00000800000000000000"/>
              <a:cs typeface="+mj-lt"/>
              <a:sym typeface="Poppins Bold" panose="00000800000000000000"/>
            </a:endParaRPr>
          </a:p>
        </p:txBody>
      </p:sp>
      <p:pic>
        <p:nvPicPr>
          <p:cNvPr id="655428242" name="Picture 10" descr="A screenshot of a computer&#10;&#10;AI-generated content may be incorrect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3695700"/>
            <a:ext cx="13606145" cy="6104255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5081270" y="9791700"/>
            <a:ext cx="75450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GB" altLang="en-US" sz="2400">
                <a:cs typeface="+mn-lt"/>
              </a:rPr>
              <a:t>- </a:t>
            </a:r>
            <a:r>
              <a:rPr lang="en-US" altLang="en-GB" sz="2400">
                <a:cs typeface="+mn-lt"/>
              </a:rPr>
              <a:t>UI Automation Execution Results Using TestNG</a:t>
            </a:r>
            <a:r>
              <a:rPr lang="en-GB" altLang="en-US" sz="2400">
                <a:cs typeface="+mn-lt"/>
              </a:rPr>
              <a:t> -</a:t>
            </a:r>
            <a:endParaRPr lang="en-GB" altLang="en-US" sz="2400">
              <a:cs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89638" y="3158715"/>
            <a:ext cx="7375772" cy="7714640"/>
          </a:xfrm>
          <a:custGeom>
            <a:avLst/>
            <a:gdLst/>
            <a:ahLst/>
            <a:cxnLst/>
            <a:rect l="l" t="t" r="r" b="b"/>
            <a:pathLst>
              <a:path w="7375772" h="7714640">
                <a:moveTo>
                  <a:pt x="0" y="0"/>
                </a:moveTo>
                <a:lnTo>
                  <a:pt x="7375772" y="0"/>
                </a:lnTo>
                <a:lnTo>
                  <a:pt x="7375772" y="7714639"/>
                </a:lnTo>
                <a:lnTo>
                  <a:pt x="0" y="771463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1450" y="147989"/>
            <a:ext cx="1232862" cy="1232862"/>
          </a:xfrm>
          <a:custGeom>
            <a:avLst/>
            <a:gdLst/>
            <a:ahLst/>
            <a:cxnLst/>
            <a:rect l="l" t="t" r="r" b="b"/>
            <a:pathLst>
              <a:path w="1232862" h="1232862">
                <a:moveTo>
                  <a:pt x="0" y="0"/>
                </a:moveTo>
                <a:lnTo>
                  <a:pt x="1232862" y="0"/>
                </a:lnTo>
                <a:lnTo>
                  <a:pt x="1232862" y="1232862"/>
                </a:lnTo>
                <a:lnTo>
                  <a:pt x="0" y="1232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2700000">
            <a:off x="512285" y="674306"/>
            <a:ext cx="736570" cy="365606"/>
            <a:chOff x="0" y="0"/>
            <a:chExt cx="1083733" cy="5379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83733" cy="537926"/>
            </a:xfrm>
            <a:custGeom>
              <a:avLst/>
              <a:gdLst/>
              <a:ahLst/>
              <a:cxnLst/>
              <a:rect l="l" t="t" r="r" b="b"/>
              <a:pathLst>
                <a:path w="1083733" h="537926">
                  <a:moveTo>
                    <a:pt x="541867" y="0"/>
                  </a:moveTo>
                  <a:lnTo>
                    <a:pt x="1083733" y="537926"/>
                  </a:lnTo>
                  <a:lnTo>
                    <a:pt x="0" y="537926"/>
                  </a:lnTo>
                  <a:lnTo>
                    <a:pt x="541867" y="0"/>
                  </a:lnTo>
                  <a:close/>
                </a:path>
              </a:pathLst>
            </a:custGeom>
            <a:solidFill>
              <a:srgbClr val="458FA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69333" y="211651"/>
              <a:ext cx="745067" cy="287851"/>
            </a:xfrm>
            <a:prstGeom prst="rect">
              <a:avLst/>
            </a:prstGeom>
          </p:spPr>
          <p:txBody>
            <a:bodyPr lIns="18069" tIns="18069" rIns="18069" bIns="1806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7" name="AutoShape 7"/>
          <p:cNvSpPr/>
          <p:nvPr/>
        </p:nvSpPr>
        <p:spPr>
          <a:xfrm>
            <a:off x="1955793" y="1476101"/>
            <a:ext cx="797229" cy="0"/>
          </a:xfrm>
          <a:prstGeom prst="line">
            <a:avLst/>
          </a:prstGeom>
          <a:ln w="190500" cap="flat">
            <a:solidFill>
              <a:srgbClr val="16718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3305472" y="1476101"/>
            <a:ext cx="797229" cy="0"/>
          </a:xfrm>
          <a:prstGeom prst="line">
            <a:avLst/>
          </a:prstGeom>
          <a:ln w="190500" cap="flat">
            <a:solidFill>
              <a:srgbClr val="57A3B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5516349" y="3557920"/>
            <a:ext cx="7255303" cy="0"/>
          </a:xfrm>
          <a:prstGeom prst="line">
            <a:avLst/>
          </a:prstGeom>
          <a:ln w="38100" cap="flat">
            <a:solidFill>
              <a:srgbClr val="57A3B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787881" y="1986504"/>
            <a:ext cx="16748141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altLang="en-GB" sz="8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GitHub </a:t>
            </a:r>
            <a:r>
              <a:rPr lang="en-GB" altLang="en-US" sz="8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and</a:t>
            </a:r>
            <a:r>
              <a:rPr lang="en-US" altLang="en-GB" sz="8000" b="1" spc="-192">
                <a:solidFill>
                  <a:srgbClr val="2B2B2B"/>
                </a:solidFill>
                <a:latin typeface="+mj-lt"/>
                <a:ea typeface="Poppins Bold" panose="00000800000000000000"/>
                <a:cs typeface="+mj-lt"/>
                <a:sym typeface="Poppins Bold" panose="00000800000000000000"/>
              </a:rPr>
              <a:t> CI Workflow</a:t>
            </a:r>
            <a:endParaRPr lang="en-US" altLang="en-GB" sz="8000" b="1" spc="-192">
              <a:solidFill>
                <a:srgbClr val="2B2B2B"/>
              </a:solidFill>
              <a:latin typeface="+mj-lt"/>
              <a:ea typeface="Poppins Bold" panose="00000800000000000000"/>
              <a:cs typeface="+mj-lt"/>
              <a:sym typeface="Poppins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955793" y="4517309"/>
            <a:ext cx="13621731" cy="3881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875" lvl="1" indent="-389255" algn="l">
              <a:lnSpc>
                <a:spcPts val="5045"/>
              </a:lnSpc>
              <a:buFont typeface="Arial" panose="020B0604020202020204"/>
              <a:buChar char="•"/>
            </a:pPr>
            <a:r>
              <a:rPr lang="en-US" altLang="en-GB" sz="3605" spc="-86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Structured project repository</a:t>
            </a:r>
            <a:endParaRPr lang="en-US" altLang="en-GB" sz="3605" spc="-86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  <a:p>
            <a:pPr marL="777875" lvl="1" indent="-389255" algn="l">
              <a:lnSpc>
                <a:spcPts val="5045"/>
              </a:lnSpc>
              <a:buFont typeface="Arial" panose="020B0604020202020204"/>
              <a:buChar char="•"/>
            </a:pPr>
            <a:r>
              <a:rPr lang="en-US" altLang="en-GB" sz="3605" spc="-86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Version control with meaningful commits</a:t>
            </a:r>
            <a:endParaRPr lang="en-US" altLang="en-GB" sz="3605" spc="-86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  <a:p>
            <a:pPr marL="777875" lvl="1" indent="-389255" algn="l">
              <a:lnSpc>
                <a:spcPts val="5045"/>
              </a:lnSpc>
              <a:buFont typeface="Arial" panose="020B0604020202020204"/>
              <a:buChar char="•"/>
            </a:pPr>
            <a:r>
              <a:rPr lang="en-US" altLang="en-GB" sz="3605" spc="-86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Branching and pull requests</a:t>
            </a:r>
            <a:endParaRPr lang="en-US" altLang="en-GB" sz="3605" spc="-86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  <a:p>
            <a:pPr marL="777875" lvl="1" indent="-389255" algn="l">
              <a:lnSpc>
                <a:spcPts val="5045"/>
              </a:lnSpc>
              <a:buFont typeface="Arial" panose="020B0604020202020204"/>
              <a:buChar char="•"/>
            </a:pPr>
            <a:r>
              <a:rPr lang="en-US" altLang="en-GB" sz="3605" spc="-86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CI with GitHub Actions</a:t>
            </a:r>
            <a:endParaRPr lang="en-US" altLang="en-GB" sz="3605" spc="-86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  <a:p>
            <a:pPr marL="777875" lvl="1" indent="-389255" algn="l">
              <a:lnSpc>
                <a:spcPts val="5045"/>
              </a:lnSpc>
              <a:buFont typeface="Arial" panose="020B0604020202020204"/>
              <a:buChar char="•"/>
            </a:pPr>
            <a:r>
              <a:rPr lang="en-US" altLang="en-GB" sz="3605" spc="-86">
                <a:solidFill>
                  <a:srgbClr val="2B2B2B"/>
                </a:solidFill>
                <a:ea typeface="Canva Sans" panose="020B0503030501040103"/>
                <a:cs typeface="+mn-lt"/>
                <a:sym typeface="Canva Sans" panose="020B0503030501040103"/>
              </a:rPr>
              <a:t>Automated test reports as artifacts</a:t>
            </a:r>
            <a:endParaRPr lang="en-US" altLang="en-GB" sz="3605" spc="-86">
              <a:solidFill>
                <a:srgbClr val="2B2B2B"/>
              </a:solidFill>
              <a:ea typeface="Canva Sans" panose="020B0503030501040103"/>
              <a:cs typeface="+mn-lt"/>
              <a:sym typeface="Canva Sans" panose="020B0503030501040103"/>
            </a:endParaRPr>
          </a:p>
          <a:p>
            <a:pPr marL="777875" lvl="1" indent="-389255" algn="l">
              <a:lnSpc>
                <a:spcPts val="5045"/>
              </a:lnSpc>
              <a:buFont typeface="Arial" panose="020B0604020202020204"/>
              <a:buChar char="•"/>
            </a:pPr>
            <a:endParaRPr>
              <a:cs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89638" y="3158715"/>
            <a:ext cx="7375772" cy="7714640"/>
          </a:xfrm>
          <a:custGeom>
            <a:avLst/>
            <a:gdLst/>
            <a:ahLst/>
            <a:cxnLst/>
            <a:rect l="l" t="t" r="r" b="b"/>
            <a:pathLst>
              <a:path w="7375772" h="7714640">
                <a:moveTo>
                  <a:pt x="0" y="0"/>
                </a:moveTo>
                <a:lnTo>
                  <a:pt x="7375772" y="0"/>
                </a:lnTo>
                <a:lnTo>
                  <a:pt x="7375772" y="7714639"/>
                </a:lnTo>
                <a:lnTo>
                  <a:pt x="0" y="771463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3328943" y="3253965"/>
            <a:ext cx="797229" cy="0"/>
          </a:xfrm>
          <a:prstGeom prst="line">
            <a:avLst/>
          </a:prstGeom>
          <a:ln w="190500" cap="flat">
            <a:solidFill>
              <a:srgbClr val="16718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4741843" y="3253965"/>
            <a:ext cx="797229" cy="0"/>
          </a:xfrm>
          <a:prstGeom prst="line">
            <a:avLst/>
          </a:prstGeom>
          <a:ln w="190500" cap="flat">
            <a:solidFill>
              <a:srgbClr val="57A3B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2828091" y="4052570"/>
            <a:ext cx="12631818" cy="2219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1" spc="-192">
                <a:solidFill>
                  <a:srgbClr val="2B2B2B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Thank You for Your Time and Attention</a:t>
            </a:r>
            <a:endParaRPr lang="en-US" sz="8000" b="1" spc="-192">
              <a:solidFill>
                <a:srgbClr val="2B2B2B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71450" y="147989"/>
            <a:ext cx="1232862" cy="1232862"/>
          </a:xfrm>
          <a:custGeom>
            <a:avLst/>
            <a:gdLst/>
            <a:ahLst/>
            <a:cxnLst/>
            <a:rect l="l" t="t" r="r" b="b"/>
            <a:pathLst>
              <a:path w="1232862" h="1232862">
                <a:moveTo>
                  <a:pt x="0" y="0"/>
                </a:moveTo>
                <a:lnTo>
                  <a:pt x="1232862" y="0"/>
                </a:lnTo>
                <a:lnTo>
                  <a:pt x="1232862" y="1232862"/>
                </a:lnTo>
                <a:lnTo>
                  <a:pt x="0" y="1232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1731</Words>
  <Application>WPS Presentation</Application>
  <PresentationFormat>On-screen Show (4:3)</PresentationFormat>
  <Paragraphs>87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Poppins Bold</vt:lpstr>
      <vt:lpstr>Canva Sans</vt:lpstr>
      <vt:lpstr>Arial</vt:lpstr>
      <vt:lpstr>Calibri</vt:lpstr>
      <vt:lpstr>Microsoft YaHei</vt:lpstr>
      <vt:lpstr>Arial Unicode MS</vt:lpstr>
      <vt:lpstr>Times New Roman</vt:lpstr>
      <vt:lpstr>Aptos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Teal and White Modern Medical Presentation</dc:title>
  <dc:creator/>
  <cp:lastModifiedBy>Yalda Alzagha</cp:lastModifiedBy>
  <cp:revision>7</cp:revision>
  <dcterms:created xsi:type="dcterms:W3CDTF">2006-08-16T00:00:00Z</dcterms:created>
  <dcterms:modified xsi:type="dcterms:W3CDTF">2026-02-10T14:29:34Z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944738E17F184700881D1A91CCD4E2E6_12</vt:lpwstr>
  </property>
  <property fmtid="{D5CDD505-2E9C-101B-9397-08002B2CF9AE}" pid="3" name="KSOProductBuildVer">
    <vt:lpwstr>2057-12.2.0.23196</vt:lpwstr>
  </property>
</Properties>
</file>